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57D2D"/>
                </a:solidFill>
                <a:latin typeface="Aptos"/>
              </a:defRPr>
            </a:pPr>
            <a:r>
              <a:t>PTIT-LEARNING  |  LỚP HỌC 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241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Học trực tuyến – tương tác trong một không gian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069080" y="1874519"/>
            <a:ext cx="22860" cy="4069080"/>
          </a:xfrm>
          <a:prstGeom prst="rect">
            <a:avLst/>
          </a:prstGeom>
          <a:solidFill>
            <a:srgbClr val="F5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01000" y="1874519"/>
            <a:ext cx="22860" cy="4069080"/>
          </a:xfrm>
          <a:prstGeom prst="rect">
            <a:avLst/>
          </a:prstGeom>
          <a:solidFill>
            <a:srgbClr val="F5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7D2D"/>
                </a:solidFill>
                <a:latin typeface="Aptos"/>
              </a:defRPr>
            </a:pPr>
            <a:r>
              <a:t>01  TRƯỚC BUỔI HỌC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ptos"/>
              </a:defRPr>
            </a:pPr>
            <a:r>
              <a:t>• Tạo lịch học</a:t>
            </a:r>
            <a:br/>
            <a:r>
              <a:t>• Gửi liên kết an toàn</a:t>
            </a:r>
            <a:br/>
            <a:r>
              <a:t>• Thông báo học viên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057400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7D2D"/>
                </a:solidFill>
                <a:latin typeface="Aptos"/>
              </a:defRPr>
            </a:pPr>
            <a:r>
              <a:t>02  TRONG BUỔI HỌC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83464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ptos"/>
              </a:defRPr>
            </a:pPr>
            <a:r>
              <a:t>• Video và chia sẻ màn hình</a:t>
            </a:r>
            <a:br/>
            <a:r>
              <a:t>• Chat, giơ tay, hỏi đáp</a:t>
            </a:r>
            <a:br/>
            <a:r>
              <a:t>• Quản lý người tham gia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057400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7D2D"/>
                </a:solidFill>
                <a:latin typeface="Aptos"/>
              </a:defRPr>
            </a:pPr>
            <a:r>
              <a:t>03  SAU BUỔI HỌC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83464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ptos"/>
              </a:defRPr>
            </a:pPr>
            <a:r>
              <a:t>• Ghi nhận chuyên cần</a:t>
            </a:r>
            <a:br/>
            <a:r>
              <a:t>• Chia sẻ tài liệu / bản ghi</a:t>
            </a:r>
            <a:br/>
            <a:r>
              <a:t>• Xuất báo cáo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1722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DAE4F0"/>
                </a:solidFill>
                <a:latin typeface="Aptos"/>
              </a:defRPr>
            </a:pPr>
            <a:r>
              <a:t>Trải nghiệm tối giản  •  Quyền truy cập rõ ràng  •  Dữ liệu học tập có thể kiểm chứng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57D2D"/>
                </a:solidFill>
                <a:latin typeface="Aptos"/>
              </a:defRPr>
            </a:pPr>
            <a:r>
              <a:t>LỘ TRÌNH HỌC TẬP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DAE4F0"/>
                </a:solidFill>
                <a:latin typeface="Aptos"/>
              </a:defRPr>
            </a:pPr>
            <a:r>
              <a:t>Từ đăng ký đến đánh giá kết quả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103120"/>
            <a:ext cx="1965960" cy="914400"/>
          </a:xfrm>
          <a:prstGeom prst="roundRect">
            <a:avLst/>
          </a:prstGeom>
          <a:solidFill>
            <a:srgbClr val="F57D2D"/>
          </a:solidFill>
          <a:ln>
            <a:solidFill>
              <a:srgbClr val="F5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1. Đăng ký</a:t>
            </a:r>
            <a:br/>
            <a:r>
              <a:t>khóa học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2103120"/>
            <a:ext cx="1965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5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2340"/>
                </a:solidFill>
              </a:defRPr>
            </a:pPr>
            <a:r>
              <a:t>2. Xác nhận</a:t>
            </a:r>
            <a:br/>
            <a:r>
              <a:t>điều kiện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2103120"/>
            <a:ext cx="1965960" cy="914400"/>
          </a:xfrm>
          <a:prstGeom prst="roundRect">
            <a:avLst/>
          </a:prstGeom>
          <a:solidFill>
            <a:srgbClr val="F57D2D"/>
          </a:solidFill>
          <a:ln>
            <a:solidFill>
              <a:srgbClr val="F5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3. Vào lớp</a:t>
            </a:r>
            <a:br/>
            <a:r>
              <a:t>học 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2103120"/>
            <a:ext cx="1965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5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2340"/>
                </a:solidFill>
              </a:defRPr>
            </a:pPr>
            <a:r>
              <a:t>4. Học và</a:t>
            </a:r>
            <a:br/>
            <a:r>
              <a:t>tương tác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2103120"/>
            <a:ext cx="1965960" cy="914400"/>
          </a:xfrm>
          <a:prstGeom prst="roundRect">
            <a:avLst/>
          </a:prstGeom>
          <a:solidFill>
            <a:srgbClr val="F57D2D"/>
          </a:solidFill>
          <a:ln>
            <a:solidFill>
              <a:srgbClr val="F5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5. Làm bài</a:t>
            </a:r>
            <a:br/>
            <a:r>
              <a:t>đánh giá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233172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7D2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3168" y="233172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7D2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9168" y="233172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7D2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5168" y="233172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7D2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Diamond 12"/>
          <p:cNvSpPr/>
          <p:nvPr/>
        </p:nvSpPr>
        <p:spPr>
          <a:xfrm>
            <a:off x="5166360" y="3886200"/>
            <a:ext cx="1828800" cy="1143000"/>
          </a:xfrm>
          <a:prstGeom prst="diamond">
            <a:avLst/>
          </a:prstGeom>
          <a:solidFill>
            <a:srgbClr val="FFFFFF"/>
          </a:solidFill>
          <a:ln>
            <a:solidFill>
              <a:srgbClr val="F5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2340"/>
                </a:solidFill>
              </a:defRPr>
            </a:pPr>
            <a:r>
              <a:t>Đạt yêu cầu?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42062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7D2D"/>
                </a:solidFill>
                <a:latin typeface="Aptos"/>
              </a:defRPr>
            </a:pPr>
            <a:r>
              <a:t>Không → Học lại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42062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7D2D"/>
                </a:solidFill>
                <a:latin typeface="Aptos"/>
              </a:defRPr>
            </a:pPr>
            <a:r>
              <a:t>Có → Hoàn thành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43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DAE4F0"/>
                </a:solidFill>
                <a:latin typeface="Aptos"/>
              </a:defRPr>
            </a:pPr>
            <a:r>
              <a:t>Thiết kế 3 vùng: tiêu đề / quy trình chính / nhánh quyết định và kết quả.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